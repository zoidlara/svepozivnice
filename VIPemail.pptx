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7559675" cy="53276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9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6"/>
  </p:normalViewPr>
  <p:slideViewPr>
    <p:cSldViewPr snapToGrid="0" snapToObjects="1">
      <p:cViewPr>
        <p:scale>
          <a:sx n="134" d="100"/>
          <a:sy n="134" d="100"/>
        </p:scale>
        <p:origin x="360" y="424"/>
      </p:cViewPr>
      <p:guideLst>
        <p:guide orient="horz" pos="2152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6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Kliknite u tekst i uređujte ga. U prvom retku zamijenite cijelo oslovljavanje odgovarajućim oslovljavanjem iz popisa uzvanika, uključujući završni zarez. Za novu pozivnicu duplicirajte slajd. Pozadina je izvorni okvir, grb i crtež zgrade. Tekst je prenesen iz priložene datoteke bez jezičnih izmjena.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609" y="2122835"/>
            <a:ext cx="7838240" cy="1464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3219" y="3872353"/>
            <a:ext cx="6455021" cy="17463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2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7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3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8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4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32" y="4391199"/>
            <a:ext cx="7838240" cy="1357222"/>
          </a:xfrm>
        </p:spPr>
        <p:txBody>
          <a:bodyPr anchor="t"/>
          <a:lstStyle>
            <a:lvl1pPr algn="l">
              <a:defRPr sz="398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432" y="2896357"/>
            <a:ext cx="7838240" cy="1494842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5554" indent="0">
              <a:buNone/>
              <a:defRPr sz="1794">
                <a:solidFill>
                  <a:schemeClr val="tx1">
                    <a:tint val="75000"/>
                  </a:schemeClr>
                </a:solidFill>
              </a:defRPr>
            </a:lvl2pPr>
            <a:lvl3pPr marL="911108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366662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822216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22777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733324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3188879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644433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073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575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29643"/>
            <a:ext cx="4074412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73" y="2167126"/>
            <a:ext cx="4074412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4373" y="1529643"/>
            <a:ext cx="4076013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4373" y="2167126"/>
            <a:ext cx="4076013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4" y="272077"/>
            <a:ext cx="3033796" cy="1157910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5334" y="272077"/>
            <a:ext cx="5155052" cy="5832259"/>
          </a:xfrm>
        </p:spPr>
        <p:txBody>
          <a:bodyPr/>
          <a:lstStyle>
            <a:lvl1pPr>
              <a:defRPr sz="3188"/>
            </a:lvl1pPr>
            <a:lvl2pPr>
              <a:defRPr sz="2790"/>
            </a:lvl2pPr>
            <a:lvl3pPr>
              <a:defRPr sz="2391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74" y="1429987"/>
            <a:ext cx="3033796" cy="4674349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471" y="4783496"/>
            <a:ext cx="5532875" cy="564719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07471" y="610592"/>
            <a:ext cx="5532875" cy="4100139"/>
          </a:xfrm>
        </p:spPr>
        <p:txBody>
          <a:bodyPr/>
          <a:lstStyle>
            <a:lvl1pPr marL="0" indent="0">
              <a:buNone/>
              <a:defRPr sz="3188"/>
            </a:lvl1pPr>
            <a:lvl2pPr marL="455554" indent="0">
              <a:buNone/>
              <a:defRPr sz="2790"/>
            </a:lvl2pPr>
            <a:lvl3pPr marL="911108" indent="0">
              <a:buNone/>
              <a:defRPr sz="2391"/>
            </a:lvl3pPr>
            <a:lvl4pPr marL="1366662" indent="0">
              <a:buNone/>
              <a:defRPr sz="1993"/>
            </a:lvl4pPr>
            <a:lvl5pPr marL="1822216" indent="0">
              <a:buNone/>
              <a:defRPr sz="1993"/>
            </a:lvl5pPr>
            <a:lvl6pPr marL="2277770" indent="0">
              <a:buNone/>
              <a:defRPr sz="1993"/>
            </a:lvl6pPr>
            <a:lvl7pPr marL="2733324" indent="0">
              <a:buNone/>
              <a:defRPr sz="1993"/>
            </a:lvl7pPr>
            <a:lvl8pPr marL="3188879" indent="0">
              <a:buNone/>
              <a:defRPr sz="1993"/>
            </a:lvl8pPr>
            <a:lvl9pPr marL="3644433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7471" y="5348215"/>
            <a:ext cx="5532875" cy="801994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558" y="273660"/>
            <a:ext cx="2074828" cy="5830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1073" y="273660"/>
            <a:ext cx="6070794" cy="5830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73" y="273659"/>
            <a:ext cx="8299313" cy="113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94499"/>
            <a:ext cx="8299313" cy="450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1073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0665" y="6333703"/>
            <a:ext cx="2920129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8712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5554" rtl="0" eaLnBrk="1" latinLnBrk="0" hangingPunct="1">
        <a:spcBef>
          <a:spcPct val="0"/>
        </a:spcBef>
        <a:buNone/>
        <a:defRPr sz="43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666" indent="-341666" algn="l" defTabSz="455554" rtl="0" eaLnBrk="1" latinLnBrk="0" hangingPunct="1">
        <a:spcBef>
          <a:spcPct val="20000"/>
        </a:spcBef>
        <a:buFont typeface="Arial"/>
        <a:buChar char="•"/>
        <a:defRPr sz="3188" kern="1200">
          <a:solidFill>
            <a:schemeClr val="tx1"/>
          </a:solidFill>
          <a:latin typeface="+mn-lt"/>
          <a:ea typeface="+mn-ea"/>
          <a:cs typeface="+mn-cs"/>
        </a:defRPr>
      </a:lvl1pPr>
      <a:lvl2pPr marL="740275" indent="-284721" algn="l" defTabSz="455554" rtl="0" eaLnBrk="1" latinLnBrk="0" hangingPunct="1">
        <a:spcBef>
          <a:spcPct val="20000"/>
        </a:spcBef>
        <a:buFont typeface="Arial"/>
        <a:buChar char="–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138885" indent="-227777" algn="l" defTabSz="455554" rtl="0" eaLnBrk="1" latinLnBrk="0" hangingPunct="1">
        <a:spcBef>
          <a:spcPct val="20000"/>
        </a:spcBef>
        <a:buFont typeface="Arial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3pPr>
      <a:lvl4pPr marL="1594439" indent="-227777" algn="l" defTabSz="455554" rtl="0" eaLnBrk="1" latinLnBrk="0" hangingPunct="1">
        <a:spcBef>
          <a:spcPct val="20000"/>
        </a:spcBef>
        <a:buFont typeface="Arial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49993" indent="-227777" algn="l" defTabSz="455554" rtl="0" eaLnBrk="1" latinLnBrk="0" hangingPunct="1">
        <a:spcBef>
          <a:spcPct val="20000"/>
        </a:spcBef>
        <a:buFont typeface="Arial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05547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61102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16656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72210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55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108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662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216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777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32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8879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4433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slovljavanje — ovdje upišite uzvanika"/>
          <p:cNvSpPr txBox="1"/>
          <p:nvPr/>
        </p:nvSpPr>
        <p:spPr>
          <a:xfrm>
            <a:off x="550963" y="1207372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Poštovan</a:t>
            </a:r>
            <a:r>
              <a:rPr lang="hr-HR" sz="1050" dirty="0">
                <a:solidFill>
                  <a:srgbClr val="102347"/>
                </a:solidFill>
                <a:latin typeface="Georgia"/>
              </a:rPr>
              <a:t>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/a</a:t>
            </a:r>
            <a:r>
              <a:rPr lang="hr-HR" sz="1050" dirty="0">
                <a:solidFill>
                  <a:srgbClr val="102347"/>
                </a:solidFill>
                <a:latin typeface="Georgia"/>
              </a:rPr>
              <a:t>  _______________________  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3" name="Tekst pozivnice 01"/>
          <p:cNvSpPr txBox="1"/>
          <p:nvPr/>
        </p:nvSpPr>
        <p:spPr>
          <a:xfrm>
            <a:off x="550962" y="1489822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iznimna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mi je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čast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pozvati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Vas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inauguracije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4" name="Tekst pozivnice 02"/>
          <p:cNvSpPr txBox="1"/>
          <p:nvPr/>
        </p:nvSpPr>
        <p:spPr>
          <a:xfrm>
            <a:off x="550962" y="1668117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>
                <a:solidFill>
                  <a:srgbClr val="102347"/>
                </a:solidFill>
                <a:latin typeface="Georgia"/>
              </a:rPr>
              <a:t>koja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se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održati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u</a:t>
            </a:r>
          </a:p>
        </p:txBody>
      </p:sp>
      <p:sp>
        <p:nvSpPr>
          <p:cNvPr id="5" name="Tekst pozivnice 03"/>
          <p:cNvSpPr txBox="1"/>
          <p:nvPr/>
        </p:nvSpPr>
        <p:spPr>
          <a:xfrm>
            <a:off x="550961" y="1873844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b="1" dirty="0" err="1">
                <a:solidFill>
                  <a:srgbClr val="102347"/>
                </a:solidFill>
                <a:latin typeface="Georgia"/>
              </a:rPr>
              <a:t>četvrtak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29. </a:t>
            </a:r>
            <a:r>
              <a:rPr sz="1200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2026. </a:t>
            </a:r>
            <a:r>
              <a:rPr sz="1200" b="1" dirty="0" err="1">
                <a:solidFill>
                  <a:srgbClr val="102347"/>
                </a:solidFill>
                <a:latin typeface="Georgia"/>
              </a:rPr>
              <a:t>godine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u 12 sati</a:t>
            </a:r>
          </a:p>
        </p:txBody>
      </p:sp>
      <p:sp>
        <p:nvSpPr>
          <p:cNvPr id="6" name="Tekst pozivnice 04"/>
          <p:cNvSpPr txBox="1"/>
          <p:nvPr/>
        </p:nvSpPr>
        <p:spPr>
          <a:xfrm>
            <a:off x="550960" y="2042658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i="1" dirty="0">
                <a:solidFill>
                  <a:srgbClr val="B59858"/>
                </a:solidFill>
                <a:latin typeface="Georgia"/>
              </a:rPr>
              <a:t>u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Hrvatskom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domu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u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Splitu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,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Tončićeva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1.</a:t>
            </a:r>
          </a:p>
        </p:txBody>
      </p:sp>
      <p:sp>
        <p:nvSpPr>
          <p:cNvPr id="7" name="Tekst pozivnice 05"/>
          <p:cNvSpPr txBox="1"/>
          <p:nvPr/>
        </p:nvSpPr>
        <p:spPr>
          <a:xfrm>
            <a:off x="550958" y="2353282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50" dirty="0" err="1">
                <a:solidFill>
                  <a:srgbClr val="102347"/>
                </a:solidFill>
                <a:latin typeface="Georgia"/>
              </a:rPr>
              <a:t>Nakon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svečanosti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slijedit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prijam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za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uzvanike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u</a:t>
            </a:r>
          </a:p>
        </p:txBody>
      </p:sp>
      <p:sp>
        <p:nvSpPr>
          <p:cNvPr id="8" name="Tekst pozivnice 06"/>
          <p:cNvSpPr txBox="1"/>
          <p:nvPr/>
        </p:nvSpPr>
        <p:spPr>
          <a:xfrm>
            <a:off x="550958" y="2531792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restoranu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Bajamonti na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Prokurativama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,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Trg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Republike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1.</a:t>
            </a:r>
          </a:p>
        </p:txBody>
      </p:sp>
      <p:sp>
        <p:nvSpPr>
          <p:cNvPr id="9" name="Tekst pozivnice 07"/>
          <p:cNvSpPr txBox="1"/>
          <p:nvPr/>
        </p:nvSpPr>
        <p:spPr>
          <a:xfrm>
            <a:off x="550959" y="2854795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50" dirty="0" err="1">
                <a:solidFill>
                  <a:srgbClr val="102347"/>
                </a:solidFill>
                <a:latin typeface="Georgia"/>
              </a:rPr>
              <a:t>Ujedno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Vas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pozivam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da mi se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istoga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dana u 19 sati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pridružite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na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prigodnom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druženju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večeri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u</a:t>
            </a:r>
          </a:p>
          <a:p>
            <a:pPr algn="ctr" defTabSz="455554"/>
            <a:r>
              <a:rPr lang="en-GB" sz="1050" i="1" dirty="0">
                <a:solidFill>
                  <a:srgbClr val="B59858"/>
                </a:solidFill>
                <a:latin typeface="Georgia"/>
              </a:rPr>
              <a:t>VIP </a:t>
            </a:r>
            <a:r>
              <a:rPr lang="en-GB" sz="1050" i="1" dirty="0" err="1">
                <a:solidFill>
                  <a:srgbClr val="B59858"/>
                </a:solidFill>
                <a:latin typeface="Georgia"/>
              </a:rPr>
              <a:t>salonu</a:t>
            </a:r>
            <a:r>
              <a:rPr lang="en-GB" sz="1050" i="1" dirty="0">
                <a:solidFill>
                  <a:srgbClr val="B59858"/>
                </a:solidFill>
                <a:latin typeface="Georgia"/>
              </a:rPr>
              <a:t> </a:t>
            </a:r>
            <a:r>
              <a:rPr lang="en-GB" sz="1050" i="1" dirty="0" err="1">
                <a:solidFill>
                  <a:srgbClr val="B59858"/>
                </a:solidFill>
                <a:latin typeface="Georgia"/>
              </a:rPr>
              <a:t>restorana</a:t>
            </a:r>
            <a:r>
              <a:rPr lang="en-GB" sz="1050" i="1" dirty="0">
                <a:solidFill>
                  <a:srgbClr val="B59858"/>
                </a:solidFill>
                <a:latin typeface="Georgia"/>
              </a:rPr>
              <a:t> „Kampus” </a:t>
            </a:r>
            <a:r>
              <a:rPr lang="en-GB" sz="1050" i="1" dirty="0" err="1">
                <a:solidFill>
                  <a:srgbClr val="B59858"/>
                </a:solidFill>
                <a:latin typeface="Georgia"/>
              </a:rPr>
              <a:t>Studentskog</a:t>
            </a:r>
            <a:r>
              <a:rPr lang="en-GB" sz="1050" i="1" dirty="0">
                <a:solidFill>
                  <a:srgbClr val="B59858"/>
                </a:solidFill>
                <a:latin typeface="Georgia"/>
              </a:rPr>
              <a:t> centra Split, </a:t>
            </a:r>
            <a:r>
              <a:rPr lang="en-GB" sz="1050" i="1" dirty="0" err="1">
                <a:solidFill>
                  <a:srgbClr val="B59858"/>
                </a:solidFill>
                <a:latin typeface="Georgia"/>
              </a:rPr>
              <a:t>Cvite</a:t>
            </a:r>
            <a:r>
              <a:rPr lang="en-GB" sz="1050" i="1" dirty="0">
                <a:solidFill>
                  <a:srgbClr val="B59858"/>
                </a:solidFill>
                <a:latin typeface="Georgia"/>
              </a:rPr>
              <a:t> </a:t>
            </a:r>
            <a:r>
              <a:rPr lang="en-GB" sz="1050" i="1" dirty="0" err="1">
                <a:solidFill>
                  <a:srgbClr val="B59858"/>
                </a:solidFill>
                <a:latin typeface="Georgia"/>
              </a:rPr>
              <a:t>Fiskovića</a:t>
            </a:r>
            <a:r>
              <a:rPr lang="en-GB" sz="1050" i="1" dirty="0">
                <a:solidFill>
                  <a:srgbClr val="B59858"/>
                </a:solidFill>
                <a:latin typeface="Georgia"/>
              </a:rPr>
              <a:t> 3</a:t>
            </a:r>
            <a:r>
              <a:rPr lang="en-GB" sz="1050" dirty="0">
                <a:solidFill>
                  <a:srgbClr val="B59858"/>
                </a:solidFill>
                <a:latin typeface="Georgia"/>
              </a:rPr>
              <a:t>.</a:t>
            </a:r>
            <a:endParaRPr sz="1050" dirty="0">
              <a:solidFill>
                <a:srgbClr val="B59858"/>
              </a:solidFill>
              <a:latin typeface="Georgia"/>
            </a:endParaRPr>
          </a:p>
        </p:txBody>
      </p:sp>
      <p:sp>
        <p:nvSpPr>
          <p:cNvPr id="10" name="Tekst pozivnice 08"/>
          <p:cNvSpPr txBox="1"/>
          <p:nvPr/>
        </p:nvSpPr>
        <p:spPr>
          <a:xfrm>
            <a:off x="551295" y="290892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endParaRPr sz="996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2" name="Tekst pozivnice 10"/>
          <p:cNvSpPr txBox="1"/>
          <p:nvPr/>
        </p:nvSpPr>
        <p:spPr>
          <a:xfrm>
            <a:off x="550957" y="3331098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>
                <a:solidFill>
                  <a:srgbClr val="102347"/>
                </a:solidFill>
                <a:latin typeface="Georgia"/>
              </a:rPr>
              <a:t>Bit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mi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osobito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ako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svojim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dolaskom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uveličate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ovaj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događaj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13" name="Tekst pozivnice 11"/>
          <p:cNvSpPr txBox="1"/>
          <p:nvPr/>
        </p:nvSpPr>
        <p:spPr>
          <a:xfrm>
            <a:off x="550957" y="3510020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važan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za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Sveučilište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u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Splitu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 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posebno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značajan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meni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osobno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.</a:t>
            </a:r>
          </a:p>
        </p:txBody>
      </p:sp>
      <p:sp>
        <p:nvSpPr>
          <p:cNvPr id="14" name="Tekst pozivnice 12"/>
          <p:cNvSpPr txBox="1"/>
          <p:nvPr/>
        </p:nvSpPr>
        <p:spPr>
          <a:xfrm>
            <a:off x="550958" y="3805552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50" dirty="0" err="1">
                <a:solidFill>
                  <a:srgbClr val="102347"/>
                </a:solidFill>
                <a:latin typeface="Georgia"/>
              </a:rPr>
              <a:t>Molim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Vas da do 19.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2026.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godine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odgovorom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na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ovu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e-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poruku</a:t>
            </a:r>
            <a:endParaRPr lang="en-GB" sz="1050" dirty="0">
              <a:solidFill>
                <a:srgbClr val="102347"/>
              </a:solidFill>
              <a:latin typeface="Georgia"/>
            </a:endParaRPr>
          </a:p>
          <a:p>
            <a:pPr algn="ctr" defTabSz="455554"/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potvrdite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dolazak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na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te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navedete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hoćete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li se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pridružiti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večeri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.</a:t>
            </a:r>
            <a:endParaRPr sz="105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6" name="Tekst pozivnice 14"/>
          <p:cNvSpPr txBox="1"/>
          <p:nvPr/>
        </p:nvSpPr>
        <p:spPr>
          <a:xfrm>
            <a:off x="396915" y="4213122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dirty="0">
                <a:solidFill>
                  <a:srgbClr val="102347"/>
                </a:solidFill>
                <a:latin typeface="Georgia"/>
              </a:rPr>
              <a:t>S </a:t>
            </a:r>
            <a:r>
              <a:rPr sz="1200" dirty="0" err="1">
                <a:solidFill>
                  <a:srgbClr val="102347"/>
                </a:solidFill>
                <a:latin typeface="Georgia"/>
              </a:rPr>
              <a:t>poštovanjem</a:t>
            </a:r>
            <a:endParaRPr sz="120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7" name="Tekst pozivnice 15"/>
          <p:cNvSpPr txBox="1"/>
          <p:nvPr/>
        </p:nvSpPr>
        <p:spPr>
          <a:xfrm>
            <a:off x="396916" y="4382880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b="1" dirty="0">
                <a:solidFill>
                  <a:srgbClr val="102347"/>
                </a:solidFill>
                <a:latin typeface="Georgia"/>
              </a:rPr>
              <a:t>prof. dr. sc. Nikola Koceić-Bilan</a:t>
            </a:r>
          </a:p>
        </p:txBody>
      </p:sp>
      <p:sp>
        <p:nvSpPr>
          <p:cNvPr id="18" name="Tekst pozivnice 16"/>
          <p:cNvSpPr txBox="1"/>
          <p:nvPr/>
        </p:nvSpPr>
        <p:spPr>
          <a:xfrm>
            <a:off x="435015" y="4552219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i="1" dirty="0" err="1">
                <a:solidFill>
                  <a:srgbClr val="102347"/>
                </a:solidFill>
                <a:latin typeface="Georgia"/>
              </a:rPr>
              <a:t>rektor</a:t>
            </a:r>
            <a:r>
              <a:rPr sz="1200" i="1" dirty="0">
                <a:solidFill>
                  <a:srgbClr val="102347"/>
                </a:solidFill>
                <a:latin typeface="Georgia"/>
              </a:rPr>
              <a:t> </a:t>
            </a:r>
            <a:r>
              <a:rPr sz="1200" i="1" dirty="0" err="1">
                <a:solidFill>
                  <a:srgbClr val="102347"/>
                </a:solidFill>
                <a:latin typeface="Georgia"/>
              </a:rPr>
              <a:t>Sveučilišta</a:t>
            </a:r>
            <a:r>
              <a:rPr sz="1200" i="1" dirty="0">
                <a:solidFill>
                  <a:srgbClr val="102347"/>
                </a:solidFill>
                <a:latin typeface="Georgia"/>
              </a:rPr>
              <a:t> u </a:t>
            </a:r>
            <a:r>
              <a:rPr sz="1200" i="1" dirty="0" err="1">
                <a:solidFill>
                  <a:srgbClr val="102347"/>
                </a:solidFill>
                <a:latin typeface="Georgia"/>
              </a:rPr>
              <a:t>Splitu</a:t>
            </a:r>
            <a:endParaRPr sz="1200" i="1" dirty="0">
              <a:solidFill>
                <a:srgbClr val="102347"/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212</Words>
  <Application>Microsoft Macintosh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sbraic</dc:creator>
  <cp:keywords/>
  <dc:description>generated using python-pptx</dc:description>
  <cp:lastModifiedBy>Lara Božić</cp:lastModifiedBy>
  <cp:revision>9</cp:revision>
  <cp:lastPrinted>2026-10-06T15:50:14Z</cp:lastPrinted>
  <dcterms:created xsi:type="dcterms:W3CDTF">2013-01-27T09:14:16Z</dcterms:created>
  <dcterms:modified xsi:type="dcterms:W3CDTF">2026-10-06T17:59:14Z</dcterms:modified>
  <cp:category/>
</cp:coreProperties>
</file>